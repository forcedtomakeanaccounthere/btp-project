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F5C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
Wireshark</c:v>
                  </c:pt>
                  <c:pt idx="1">
                    <c:v>Crisp
Decision Tree</c:v>
                  </c:pt>
                  <c:pt idx="2">
                    <c:v>FuzzyForensIoT
(Proposed)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87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C2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
Wireshark</c:v>
                  </c:pt>
                  <c:pt idx="1">
                    <c:v>Crisp
Decision Tree</c:v>
                  </c:pt>
                  <c:pt idx="2">
                    <c:v>FuzzyForensIoT
(Proposed)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
Wireshark</c:v>
                  </c:pt>
                  <c:pt idx="1">
                    <c:v>Crisp
Decision Tree</c:v>
                  </c:pt>
                  <c:pt idx="2">
                    <c:v>FuzzyForensIoT
(Proposed)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75</c:v>
                </c:pt>
                <c:pt idx="1">
                  <c:v>85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eeexplore.ieee.org/document/10182142" TargetMode="External"/><Relationship Id="rId2" Type="http://schemas.openxmlformats.org/officeDocument/2006/relationships/hyperlink" Target="https://ieeexplore.ieee.org/document/9996700" TargetMode="External"/><Relationship Id="rId3" Type="http://schemas.openxmlformats.org/officeDocument/2006/relationships/hyperlink" Target="https://ieeexplore.ieee.org/document/9022832" TargetMode="External"/><Relationship Id="rId4" Type="http://schemas.openxmlformats.org/officeDocument/2006/relationships/hyperlink" Target="https://ieeexplore.ieee.org/document/9750892" TargetMode="External"/><Relationship Id="rId5" Type="http://schemas.openxmlformats.org/officeDocument/2006/relationships/hyperlink" Target="https://ieeexplore.ieee.org/document/9385540" TargetMode="External"/><Relationship Id="rId6" Type="http://schemas.openxmlformats.org/officeDocument/2006/relationships/hyperlink" Target="https://link.springer.com/article/10.1007/s10586-022-03666-4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194560"/>
            <a:ext cx="5943600" cy="45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1645920" cy="1645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EDF8"/>
                </a:solidFill>
              </a:rPr>
              <a:t>IoT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82880" y="4206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</a:rPr>
              <a:t>NETWORK FORENSICS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383280" y="457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FuzzyForensIoT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3383280" y="1143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Fuzzy Decision Tree Framework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383280" y="1554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Automated IoT Network Forensics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331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Transport-Layer DoS Detection with Fuzzy Reasoning for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2633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Evidence Classification in Smart Home Environments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83280" y="3200400"/>
            <a:ext cx="1051560" cy="274320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383280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DF8"/>
                </a:solidFill>
              </a:rPr>
              <a:t>IoT Security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498848" y="3200400"/>
            <a:ext cx="1051560" cy="274320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498848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DF8"/>
                </a:solidFill>
              </a:rPr>
              <a:t>Network Forensics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14416" y="3200400"/>
            <a:ext cx="1051560" cy="274320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614416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DF8"/>
                </a:solidFill>
              </a:rPr>
              <a:t>Fuzzy Logic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729984" y="3200400"/>
            <a:ext cx="1051560" cy="274320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729984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DF8"/>
                </a:solidFill>
              </a:rPr>
              <a:t>DoS Detection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845552" y="3200400"/>
            <a:ext cx="1051560" cy="274320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845552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DF8"/>
                </a:solidFill>
              </a:rPr>
              <a:t>Smart Home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383280" y="4663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Research Presentation  •  M.Tech / B.Tech Project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83280" y="4983480"/>
            <a:ext cx="55778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Ecosystem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417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billion connected devices by 2025. Smart homes, medical care, industrial systems — all exchanging data continuously over internet protocols.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Rising Threats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DoS attacks exploit TCP protocol. SYN flood attacks make server resources unreachable for legitimate users.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Forensics Need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4069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forensics collects, preserves, and analyzes traffic evidence for legal proceedings — but current approaches are manual &amp; reactive.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983480" y="1554480"/>
            <a:ext cx="374904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0" y="1591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51.63%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035040" y="1645920"/>
            <a:ext cx="36576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26480" y="16002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DoS attacks use TCP-SYN flooding (Kaspersky 2021)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983480" y="2176272"/>
            <a:ext cx="374904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0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40-50B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035040" y="2267712"/>
            <a:ext cx="36576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26480" y="22219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expected by 2025 — massive attack surface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983480" y="2798064"/>
            <a:ext cx="374904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Levels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6035040" y="2889504"/>
            <a:ext cx="36576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126480" y="28437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· Network · Cloud — forensics applies at each layer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983480" y="3419856"/>
            <a:ext cx="374904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029200" y="34564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187,060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6035040" y="3511296"/>
            <a:ext cx="36576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126480" y="34655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in real smart-home PCAP dataset (Paper 2 baseline)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983480" y="4041648"/>
            <a:ext cx="374904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2920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6035040" y="4133088"/>
            <a:ext cx="36576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126480" y="40873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IoT forensic systems with fuzzy probabilistic scoring exist today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Today's IoT Forensics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&amp; Reactive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analysis requires a human analyst to visually inspect I/O graphs and apply display filters. No automation exists.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41732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Thresholds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give binary verdicts: attack or no attack. Network congestion and low-level floods look identical to hard-threshold systems.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417320"/>
            <a:ext cx="28346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Legal Translation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0936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PCAP logs are incomprehensible to courts. No system auto-generates human-readable IF-THEN forensic evidence rules.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200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  WHY THIS MATTERS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566160"/>
            <a:ext cx="73152" cy="132588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Motivation: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" y="39776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</a:t>
            </a:r>
            <a:pPr indent="0" marL="0">
              <a:buNone/>
            </a:pPr>
            <a:r>
              <a:rPr lang="en-US" sz="1100" b="1" dirty="0">
                <a:solidFill>
                  <a:srgbClr val="7E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transport-layer forensic indicators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(SYN ratios, ICMP rates) identified by manual Wireshark analysis with a </a:t>
            </a:r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Decision Tree reasoning engine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produce automated, probabilistic, court-ready forensic verdicts for IoT DoS attacks — something no existing system provides.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LITERATURE SURVEY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2344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33272"/>
            <a:ext cx="384048" cy="21945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33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[P1]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" y="1014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Network Forensics based on Transport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Naing et al.  |  IEEE ICCA 2023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TCP-SYN &amp; UDP flood detection on smart home devices using Wireshark. Identified key forensic indicators: SYN/ACK ratio (5636 vs 225), ICMP unreachable packets, Port-80 UDP anomaly.</a:t>
            </a:r>
            <a:endParaRPr lang="en-US" sz="85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384048" y="20391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https://ieeexplore.ieee.org/document/10182142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54864" cy="1234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404872"/>
            <a:ext cx="384048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04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[P2]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2386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Fuzzy Decision Tree Reasoning for Network Forensics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Jiao Ye  |  IEEE WAC 2022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Fuzzy-ID3 algorithm for forensic evidence classification. Defined proactive evidence collection model and fuzzy rule extraction for legal presentation. No real dataset used.</a:t>
            </a:r>
            <a:endParaRPr lang="en-US" sz="850" dirty="0"/>
          </a:p>
        </p:txBody>
      </p:sp>
      <p:sp>
        <p:nvSpPr>
          <p:cNvPr id="20" name="Text 18">
            <a:hlinkClick r:id="rId2" tooltip=""/>
          </p:cNvPr>
          <p:cNvSpPr/>
          <p:nvPr/>
        </p:nvSpPr>
        <p:spPr>
          <a:xfrm>
            <a:off x="384048" y="34107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https://ieeexplore.ieee.org/document/9996700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776472"/>
            <a:ext cx="384048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764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[P3]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3758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on IoT Forensics: Challenges, Approaches &amp; Open Issues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Stoyanova et al.  |  IEEE COMST 2020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4297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survey covering device, network and cloud forensics levels. Identifies open challenges: data heterogeneity, evidence preservation, legal admissibility.</a:t>
            </a:r>
            <a:endParaRPr lang="en-US" sz="850" dirty="0"/>
          </a:p>
        </p:txBody>
      </p:sp>
      <p:sp>
        <p:nvSpPr>
          <p:cNvPr id="28" name="Text 26">
            <a:hlinkClick r:id="rId3" tooltip=""/>
          </p:cNvPr>
          <p:cNvSpPr/>
          <p:nvPr/>
        </p:nvSpPr>
        <p:spPr>
          <a:xfrm>
            <a:off x="384048" y="47823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https://ieeexplore.ieee.org/document/9022832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96012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1033272"/>
            <a:ext cx="38404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033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[P4]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21808" y="1014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Intrusion Detection for IoT using Fuzzy Classifiers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21808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2022  |  IEEE T. Fuzzy Systems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possibilistic clustering + ensemble fuzzy classifiers for streaming IoT traffic. Shows fuzzy systems outperform crisp classifiers on ambiguous traffic patterns.</a:t>
            </a:r>
            <a:endParaRPr lang="en-US" sz="850" dirty="0"/>
          </a:p>
        </p:txBody>
      </p:sp>
      <p:sp>
        <p:nvSpPr>
          <p:cNvPr id="36" name="Text 34">
            <a:hlinkClick r:id="rId4" tooltip=""/>
          </p:cNvPr>
          <p:cNvSpPr/>
          <p:nvPr/>
        </p:nvSpPr>
        <p:spPr>
          <a:xfrm>
            <a:off x="4864608" y="20391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https://ieeexplore.ieee.org/document/9750892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75488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331720"/>
            <a:ext cx="54864" cy="12344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2404872"/>
            <a:ext cx="384048" cy="21945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404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[P5]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21808" y="2386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 Flood Detection using ML &amp; Programmable Data Planes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21808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Dimolianis et al.  |  IEEE ICIN 2021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TCP-SYN flood detection achieving 98% accuracy. Establishes ML as viable replacement for manual Wireshark analysis for SYN flood forensics.</a:t>
            </a:r>
            <a:endParaRPr lang="en-US" sz="850" dirty="0"/>
          </a:p>
        </p:txBody>
      </p:sp>
      <p:sp>
        <p:nvSpPr>
          <p:cNvPr id="44" name="Text 42">
            <a:hlinkClick r:id="rId5" tooltip=""/>
          </p:cNvPr>
          <p:cNvSpPr/>
          <p:nvPr/>
        </p:nvSpPr>
        <p:spPr>
          <a:xfrm>
            <a:off x="4864608" y="34107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https://ieeexplore.ieee.org/document/9385540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75488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703320"/>
            <a:ext cx="54864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3776472"/>
            <a:ext cx="384048" cy="21945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37764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[P6]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21808" y="3758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Flooding Detection in SDN using Proxy &amp; ML Mechanisms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21808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Sudar et al.  |  Springer Cluster Comput. 2023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64608" y="4297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proxy+ML architecture for TCP flood detection. Demonstrates that soft/fuzzy classifiers reduce false positive rate vs hard-threshold methods by ~23%.</a:t>
            </a:r>
            <a:endParaRPr lang="en-US" sz="850" dirty="0"/>
          </a:p>
        </p:txBody>
      </p:sp>
      <p:sp>
        <p:nvSpPr>
          <p:cNvPr id="52" name="Text 50">
            <a:hlinkClick r:id="rId6" tooltip=""/>
          </p:cNvPr>
          <p:cNvSpPr/>
          <p:nvPr/>
        </p:nvSpPr>
        <p:spPr>
          <a:xfrm>
            <a:off x="4864608" y="47823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https://link.springer.com/article/10.1007/s10586-022-03666-4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RESEARCH GAPS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4864" cy="1216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Automated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[P1] identifies attack indicators manually. No system converts SYN ratio or ICMP rate into a probabilistic verdict automatically.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313432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13432"/>
            <a:ext cx="54864" cy="1216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04872"/>
            <a:ext cx="384048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vs Fuzzy Thresholds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2843784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thresholds cannot distinguish congestion from a sophisticated low-level flood. Fuzzy middle-ground memberships are needed but never applied to IoT PCAP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666744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666744"/>
            <a:ext cx="54864" cy="1216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58184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37581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FDT Never Applied to Real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197096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[P2] proposes Fuzzy-ID3 theoretically. It was never trained on real traffic. No membership functions are defined for IoT transport-layer metrics.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60120"/>
            <a:ext cx="54864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0952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Proactive Triage Engine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1490472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[P2] calls for proactive evidence collection conceptually. No implementation decides in real-time what traffic is 'forensically significant' enough to store.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13432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13432"/>
            <a:ext cx="54864" cy="1216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404872"/>
            <a:ext cx="384048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30952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Multi-Attack Classification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2843784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TCP-SYN and UDP floods are detected separately in [P1]. No single model classifies both attack types simultaneously with confidence scoring.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66744"/>
            <a:ext cx="4251960" cy="1216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66744"/>
            <a:ext cx="54864" cy="1216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758184"/>
            <a:ext cx="384048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30952" y="37581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Court-Ready Auto-Generated Rules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46320" y="4197096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[P2] notes courts need comprehensible evidence. No system auto-generates IF-THEN forensic rules from IoT traffic for legal 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RESEARCH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7772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2D4"/>
                </a:solidFill>
              </a:rPr>
              <a:t>PRIMARY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automated Fuzzy-ID3 Decision Tree that fuzzifies IoT transport-layer traffic metrics and classifies TCP-SYN / UDP flood attacks with probabilistic confidence scores — bridging manual Wireshark analysis and intelligent, legally-presentable forensic reasoning.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16002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O1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060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47472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9 baseline + 4 novel features from IoT PCAP files using tshark. Include SYN/ACK ratio, ICMP rate, IP entropy, TCP window size anomaly.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011680" y="192024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011680" y="1920240"/>
            <a:ext cx="1600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201168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O2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26060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084832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 Function Design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084832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IoT-calibrated triangular/trapezoidal fuzzy sets for each metric (Low, Medium, High) using K-means clustering on captured traffic.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749040" y="192024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49040" y="1920240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97680" y="2011680"/>
            <a:ext cx="502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97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O3</a:t>
            </a:r>
            <a:endParaRPr lang="en-US" sz="15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60604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22192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Fuzzy-ID3 Implementation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822192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Fuzzy Decision Tree using fuzzy information gain splits. Classify Normal, TCP-SYN Flood, UDP Flood, and Mixed DDoS from same feature space.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5486400" y="192024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86400" y="19202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035040" y="201168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035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O4</a:t>
            </a:r>
            <a:endParaRPr lang="en-US" sz="15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60604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59552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Rule Generation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559552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every root-to-leaf FDT path into IF-THEN forensic rules with confidence scores for court-ready presentation.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223760" y="192024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23760" y="1920240"/>
            <a:ext cx="1600200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72400" y="2011680"/>
            <a:ext cx="502920" cy="5029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72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O5</a:t>
            </a:r>
            <a:endParaRPr lang="en-US" sz="15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2606040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96912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&amp; Validate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296912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FDT vs crisp Decision Tree vs manual Wireshark method. Measure Precision, Recall, F1, and false positive rate on real IoT PCAP dataset.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PROPOSED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50876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115568"/>
            <a:ext cx="502920" cy="41148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45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Traffic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Wireshark/tshark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83080" y="1783080"/>
            <a:ext cx="228600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1005840"/>
            <a:ext cx="150876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1005840"/>
            <a:ext cx="1508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14600" y="1115568"/>
            <a:ext cx="5029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6459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5740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05740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520440" y="1783080"/>
            <a:ext cx="228600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749040" y="1005840"/>
            <a:ext cx="150876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49040" y="1005840"/>
            <a:ext cx="1508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51960" y="1115568"/>
            <a:ext cx="5029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5196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4592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9476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Fuzzification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79476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257800" y="1783080"/>
            <a:ext cx="228600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0" y="1005840"/>
            <a:ext cx="150876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86400" y="1005840"/>
            <a:ext cx="150876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89320" y="1115568"/>
            <a:ext cx="502920" cy="41148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98932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64592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3212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Fuzzy-ID3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53212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 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classification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995160" y="1783080"/>
            <a:ext cx="228600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223760" y="1005840"/>
            <a:ext cx="150876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23760" y="1005840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26680" y="1115568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2668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645920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6948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Forensic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Output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26948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rules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274320" y="3017520"/>
            <a:ext cx="54864" cy="1828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38912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Fuzzy Membership Design (Novel Contribution)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438912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SYN-ACK/SYN Ratio: LOW [0, 0, 0.15]  MEDIUM [0.1, 0.4, 0.7]  NORMAL [0.6, 1, 1]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438912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 Unreachable Rate: LOW [0, 0, 0.02]  ELEVATED [0.01, 0.05, 0.1]  HIGH [0.08, 1, 1]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438912" y="4014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IP Entropy: SPOOFED [0, 0, 1.5]  MIXED [1.0, 3.0, 5.0]  DISTRIBUTED [4.0, 8, 8]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438912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Burst Score: LOW [0, 0, 50]  MODERATE [30, 100, 200]  SPIKE [150, 500, 500]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4663440" y="3017520"/>
            <a:ext cx="42062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4663440" y="3017520"/>
            <a:ext cx="54864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828032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Auto-Generated Forensic Rule Example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4828032" y="3401568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#3: IF SYN_ACK_Ratio IS low (μ=0.92)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ICMP_Unreachable IS elevated (μ=0.78)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Source_IP_Entropy IS spoofed (μ=0.85)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 Attack = TCP-SYN Flood  [Confidence: 91.4%]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54864" cy="76809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Wireshark / tshark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6824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capture &amp; feature export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85416"/>
            <a:ext cx="54864" cy="76809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5694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&amp; FDT implementation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072384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72384"/>
            <a:ext cx="54864" cy="7680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1455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scikit-fuzzy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" y="34564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functions, fuzzy logic operations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959352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59352"/>
            <a:ext cx="54864" cy="7680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40325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" y="43434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crisp Decision Tree, metrics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23160" y="1298448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23160" y="1298448"/>
            <a:ext cx="54864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16824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tshark CSV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23160" y="2185416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23160" y="2185416"/>
            <a:ext cx="54864" cy="76809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PyShark / Scapy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42032" y="25694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for proactive mode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23160" y="3072384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23160" y="3072384"/>
            <a:ext cx="54864" cy="76809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31455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42032" y="34564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function visualization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23160" y="3959352"/>
            <a:ext cx="2011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23160" y="3959352"/>
            <a:ext cx="54864" cy="76809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40325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graphviz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43434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 tree visualization for legal output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PHASES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1298448"/>
            <a:ext cx="4114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298448"/>
            <a:ext cx="54864" cy="66751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1371600"/>
            <a:ext cx="685800" cy="20116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371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23560" y="1353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16276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exports PCAP → CSV with 13 features per sliding time window (1s). Simulates Paper [P1] attack dataset.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9968"/>
            <a:ext cx="4114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029968"/>
            <a:ext cx="54864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2103120"/>
            <a:ext cx="6858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103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23560" y="2084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Fuzzification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64608" y="23591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 traffic to discover membership function boundaries. scikit-fuzzy computes μ(x) for each feature.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2761488"/>
            <a:ext cx="4114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761488"/>
            <a:ext cx="54864" cy="6675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64608" y="2834640"/>
            <a:ext cx="68580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2834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2356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FDT Training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64608" y="30906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Fuzzy-ID3 builds tree using fuzzy entropy gain. Leaf nodes output class label + confidence score in [0,1].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3493008"/>
            <a:ext cx="4114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54880" y="3493008"/>
            <a:ext cx="54864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64608" y="3566160"/>
            <a:ext cx="6858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35661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23560" y="3547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Extraction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64608" y="38221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root-to-leaf path → IF-THEN rule with membership values. Output formatted as legal forensic report.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54880" y="4224528"/>
            <a:ext cx="4114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54880" y="4224528"/>
            <a:ext cx="54864" cy="66751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64608" y="4297680"/>
            <a:ext cx="685800" cy="20116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64608" y="4297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23560" y="4279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864608" y="45537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 vs crisp DT vs manual Wireshark. Metrics: Precision, Recall, F1-Score, False Positive Rate.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EXPECTED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Comparison (Expected)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98448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Contributions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9844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298448"/>
            <a:ext cx="54864" cy="5486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3752" y="1408176"/>
            <a:ext cx="621792" cy="31089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73752" y="140817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1389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 applied to real IoT PCAP transport-layer data for forensic classification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193852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938528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3752" y="2048256"/>
            <a:ext cx="621792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3752" y="204825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57784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IoT-specific fuzzy membership functions for SYN/ACK ratio &amp; ICMP flood indicators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257860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578608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73752" y="2688336"/>
            <a:ext cx="621792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26883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577840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FDT classifying both TCP-SYN &amp; UDP floods from a single feature space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21868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21868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73752" y="3328416"/>
            <a:ext cx="621792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3752" y="332841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77840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triage — FDT confidence score drives what evidence to store in real-time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38587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54880" y="3858768"/>
            <a:ext cx="54864" cy="5486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73752" y="3968496"/>
            <a:ext cx="621792" cy="31089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73752" y="396849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577840" y="3950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IF-THEN forensic rules suitable for court presentation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54880" y="449884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4498848"/>
            <a:ext cx="54864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73752" y="4608576"/>
            <a:ext cx="621792" cy="31089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73752" y="460857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↓23%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577840" y="4590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false positive rate vs crisp Decision Tree on borderline traffic cases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9144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FuzzyForensIoT fills a clear, unexplored gap: the first system to take raw IoT transport-layer PCAP metrics, pass them through IoT-calibrated fuzzy membership functions, classify DoS attacks with a Fuzzy-ID3 Decision Tree, and output court-ready probabilistic forensic rules — fully automated.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011680" cy="2468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Solved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227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Wireshark → Automated FDT pipeline with fuzzy confidence scoring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68880" y="2103120"/>
            <a:ext cx="2011680" cy="2468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2103120"/>
            <a:ext cx="201168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402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Addressed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3227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Fuzzy-ID3 to real IoT PCAP data with defined membership functions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63440" y="2103120"/>
            <a:ext cx="2011680" cy="2468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2103120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402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Value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54880" y="3227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IF-THEN rules make forensic evidence comprehensible for courts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58000" y="2103120"/>
            <a:ext cx="2011680" cy="2468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0" y="21031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2402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49440" y="3227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IPv6/6LoWPAN, hello flooding, identity attacks; use SNORT instead of Wireshark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86460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  •  FuzzyForensIoT: Intelligent IoT Network Forensics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FuzzyForensIoT - Research Presentation</dc:title>
  <dc:subject>PptxGenJS Presentation</dc:subject>
  <dc:creator>PptxGenJS</dc:creator>
  <cp:lastModifiedBy>PptxGenJS</cp:lastModifiedBy>
  <cp:revision>1</cp:revision>
  <dcterms:created xsi:type="dcterms:W3CDTF">2026-03-02T08:21:55Z</dcterms:created>
  <dcterms:modified xsi:type="dcterms:W3CDTF">2026-03-02T08:21:55Z</dcterms:modified>
</cp:coreProperties>
</file>